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8"/>
  </p:notesMasterIdLst>
  <p:handoutMasterIdLst>
    <p:handoutMasterId r:id="rId9"/>
  </p:handoutMasterIdLst>
  <p:sldIdLst>
    <p:sldId id="256" r:id="rId2"/>
    <p:sldId id="258" r:id="rId3"/>
    <p:sldId id="261" r:id="rId4"/>
    <p:sldId id="263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3/28/2022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3/28/2022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Applied Machine Learning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377598"/>
            <a:ext cx="10993546" cy="89524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HW_1_Estimate_LR_with_Boston_dataset</a:t>
            </a:r>
          </a:p>
          <a:p>
            <a:r>
              <a:rPr lang="en-US" b="1" dirty="0">
                <a:solidFill>
                  <a:schemeClr val="bg1"/>
                </a:solidFill>
              </a:rPr>
              <a:t>Group 02 - Alpha Team</a:t>
            </a:r>
          </a:p>
          <a:p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9EE7E35-AAAC-4900-9698-54A6CBC78362}"/>
              </a:ext>
            </a:extLst>
          </p:cNvPr>
          <p:cNvSpPr/>
          <p:nvPr/>
        </p:nvSpPr>
        <p:spPr>
          <a:xfrm>
            <a:off x="447040" y="618309"/>
            <a:ext cx="1388362" cy="62396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38325"/>
            <a:ext cx="11029616" cy="525684"/>
          </a:xfrm>
        </p:spPr>
        <p:txBody>
          <a:bodyPr/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i="0" kern="1200" dirty="0"/>
              <a:t>Boston house prices dataset</a:t>
            </a:r>
            <a:endParaRPr lang="en-US" sz="2800" kern="1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ACCC5B5-2CF8-4FA8-A992-E7FBC065F115}"/>
              </a:ext>
            </a:extLst>
          </p:cNvPr>
          <p:cNvGrpSpPr/>
          <p:nvPr/>
        </p:nvGrpSpPr>
        <p:grpSpPr>
          <a:xfrm>
            <a:off x="1389910" y="2158756"/>
            <a:ext cx="6400036" cy="748647"/>
            <a:chOff x="543856" y="558298"/>
            <a:chExt cx="6400036" cy="74864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2EFD92F-E41F-4498-8E61-4C26A75AD628}"/>
                </a:ext>
              </a:extLst>
            </p:cNvPr>
            <p:cNvSpPr/>
            <p:nvPr/>
          </p:nvSpPr>
          <p:spPr>
            <a:xfrm>
              <a:off x="543856" y="594158"/>
              <a:ext cx="6310391" cy="712787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6741858-1A6F-4F21-BBCC-4A136466FF17}"/>
                </a:ext>
              </a:extLst>
            </p:cNvPr>
            <p:cNvSpPr txBox="1"/>
            <p:nvPr/>
          </p:nvSpPr>
          <p:spPr>
            <a:xfrm>
              <a:off x="633501" y="558298"/>
              <a:ext cx="6310391" cy="7127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65775" tIns="88900" rIns="88900" bIns="88900" numCol="1" spcCol="1270" anchor="ctr" anchorCtr="0">
              <a:noAutofit/>
            </a:bodyPr>
            <a:lstStyle/>
            <a:p>
              <a:pPr defTabSz="1555750"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b="0" i="0" dirty="0"/>
                <a:t>Dependent Variable</a:t>
              </a:r>
              <a:r>
                <a:rPr lang="en-US" sz="3500" kern="1200" dirty="0"/>
                <a:t>	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F13250-6E6E-4A10-8752-598CF0DBE8C8}"/>
              </a:ext>
            </a:extLst>
          </p:cNvPr>
          <p:cNvGrpSpPr/>
          <p:nvPr/>
        </p:nvGrpSpPr>
        <p:grpSpPr>
          <a:xfrm>
            <a:off x="1389910" y="3520293"/>
            <a:ext cx="6400036" cy="748647"/>
            <a:chOff x="543856" y="558298"/>
            <a:chExt cx="6400036" cy="74864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2F50B5-2085-4DEA-9B37-7E24D36F87DA}"/>
                </a:ext>
              </a:extLst>
            </p:cNvPr>
            <p:cNvSpPr/>
            <p:nvPr/>
          </p:nvSpPr>
          <p:spPr>
            <a:xfrm>
              <a:off x="543856" y="594158"/>
              <a:ext cx="6310391" cy="712787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07410F-9A5E-43E6-87C7-A373CA575090}"/>
                </a:ext>
              </a:extLst>
            </p:cNvPr>
            <p:cNvSpPr txBox="1"/>
            <p:nvPr/>
          </p:nvSpPr>
          <p:spPr>
            <a:xfrm>
              <a:off x="633501" y="558298"/>
              <a:ext cx="6310391" cy="7127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65775" tIns="88900" rIns="88900" bIns="88900" numCol="1" spcCol="1270" anchor="ctr" anchorCtr="0">
              <a:noAutofit/>
            </a:bodyPr>
            <a:lstStyle/>
            <a:p>
              <a:pPr defTabSz="1555750"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dirty="0"/>
                <a:t>Ind</a:t>
              </a:r>
              <a:r>
                <a:rPr lang="en-US" sz="3600" b="0" i="0" dirty="0"/>
                <a:t>ependent Variable</a:t>
              </a:r>
              <a:r>
                <a:rPr lang="en-US" sz="3500" kern="1200" dirty="0"/>
                <a:t>	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D18AE55-4753-4387-A933-DC38CBA807B8}"/>
              </a:ext>
            </a:extLst>
          </p:cNvPr>
          <p:cNvSpPr txBox="1"/>
          <p:nvPr/>
        </p:nvSpPr>
        <p:spPr>
          <a:xfrm>
            <a:off x="2008094" y="3030071"/>
            <a:ext cx="4814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0" dirty="0"/>
              <a:t>Price (target) 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22A99-0DB0-4EC3-B78C-01ABF11C9247}"/>
              </a:ext>
            </a:extLst>
          </p:cNvPr>
          <p:cNvSpPr txBox="1"/>
          <p:nvPr/>
        </p:nvSpPr>
        <p:spPr>
          <a:xfrm>
            <a:off x="2008094" y="4385482"/>
            <a:ext cx="856129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0" dirty="0"/>
              <a:t>Average number of rooms per dwelling. (RM)</a:t>
            </a:r>
            <a:endParaRPr lang="en-US" b="1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0" dirty="0"/>
              <a:t>Weighted distances to five Boston employment centers. (DIS)</a:t>
            </a:r>
            <a:endParaRPr lang="en-US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0" dirty="0"/>
              <a:t>% lower status of the population.(LSTAT)</a:t>
            </a:r>
            <a:endParaRPr lang="en-US" b="1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0" dirty="0"/>
              <a:t>1000(Bk - 0.63)^2 where Bk is the proportion of black people by town.(B</a:t>
            </a:r>
            <a:r>
              <a:rPr lang="en-US" b="1" dirty="0"/>
              <a:t>)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0" dirty="0"/>
              <a:t>Pupil-teacher ratio by town. (PTRATIO)</a:t>
            </a:r>
          </a:p>
          <a:p>
            <a:pPr lvl="0"/>
            <a:endParaRPr lang="en-US" b="1" dirty="0"/>
          </a:p>
        </p:txBody>
      </p:sp>
      <p:sp>
        <p:nvSpPr>
          <p:cNvPr id="19" name="Block Arc 18">
            <a:extLst>
              <a:ext uri="{FF2B5EF4-FFF2-40B4-BE49-F238E27FC236}">
                <a16:creationId xmlns:a16="http://schemas.microsoft.com/office/drawing/2014/main" id="{653E45B8-5ED8-49E9-B018-0659619FA242}"/>
              </a:ext>
            </a:extLst>
          </p:cNvPr>
          <p:cNvSpPr/>
          <p:nvPr/>
        </p:nvSpPr>
        <p:spPr>
          <a:xfrm>
            <a:off x="-3321177" y="814371"/>
            <a:ext cx="4800732" cy="4800732"/>
          </a:xfrm>
          <a:prstGeom prst="blockArc">
            <a:avLst>
              <a:gd name="adj1" fmla="val 18900000"/>
              <a:gd name="adj2" fmla="val 2700000"/>
              <a:gd name="adj3" fmla="val 450"/>
            </a:avLst>
          </a:prstGeom>
        </p:spPr>
        <p:style>
          <a:lnRef idx="1">
            <a:schemeClr val="accent2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11CC2FB-7A95-4DA2-9661-73299D42130B}"/>
              </a:ext>
            </a:extLst>
          </p:cNvPr>
          <p:cNvSpPr/>
          <p:nvPr/>
        </p:nvSpPr>
        <p:spPr>
          <a:xfrm>
            <a:off x="944418" y="2104966"/>
            <a:ext cx="890984" cy="890984"/>
          </a:xfrm>
          <a:prstGeom prst="ellipse">
            <a:avLst/>
          </a:prstGeom>
        </p:spPr>
        <p:style>
          <a:lnRef idx="1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C526959-5C48-4630-B7ED-483BE0BA5E10}"/>
              </a:ext>
            </a:extLst>
          </p:cNvPr>
          <p:cNvSpPr/>
          <p:nvPr/>
        </p:nvSpPr>
        <p:spPr>
          <a:xfrm>
            <a:off x="944418" y="3439611"/>
            <a:ext cx="890984" cy="890984"/>
          </a:xfrm>
          <a:prstGeom prst="ellipse">
            <a:avLst/>
          </a:prstGeom>
        </p:spPr>
        <p:style>
          <a:lnRef idx="1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09A5-7AA4-474C-9341-E82DDDFBA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0" i="0" dirty="0"/>
              <a:t>State what sign of estimated parameters do you expect and why?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1FF57-2CAA-4451-831E-5782AC1D5166}"/>
              </a:ext>
            </a:extLst>
          </p:cNvPr>
          <p:cNvSpPr txBox="1"/>
          <p:nvPr/>
        </p:nvSpPr>
        <p:spPr>
          <a:xfrm>
            <a:off x="493059" y="2133600"/>
            <a:ext cx="112148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0" dirty="0"/>
              <a:t>  RM</a:t>
            </a:r>
            <a:r>
              <a:rPr lang="en-US" b="1" dirty="0"/>
              <a:t> </a:t>
            </a:r>
            <a:r>
              <a:rPr lang="en-US" dirty="0"/>
              <a:t>parameter (variable) the sign we expected was to be positive.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The more the number of the rooms the more the price becomes.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  DIS </a:t>
            </a:r>
            <a:r>
              <a:rPr lang="en-US" dirty="0"/>
              <a:t>parameter (variable) the sign we expected was to be positive.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i="0" dirty="0"/>
              <a:t>If the Boston house is close to the employment center</a:t>
            </a:r>
            <a:r>
              <a:rPr lang="en-US" dirty="0"/>
              <a:t> then the price(target) will increase.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0" dirty="0"/>
              <a:t>  LSTAT </a:t>
            </a:r>
            <a:r>
              <a:rPr lang="en-US" dirty="0"/>
              <a:t>parameter (variable) the sign we expected was to be negative.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Higher, lower-status population reduces the price(target) of the house.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0" dirty="0"/>
              <a:t>  B </a:t>
            </a:r>
            <a:r>
              <a:rPr lang="en-US" dirty="0"/>
              <a:t>parameter (variable) the sign we expected was to be positive.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The more black people in town the more the price(target) 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i="0" dirty="0"/>
              <a:t>  PTRATIO </a:t>
            </a:r>
            <a:r>
              <a:rPr lang="en-US" dirty="0"/>
              <a:t>parameter (variable) the sign we expected was to be positive.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The more the pupil-teachers the more the price (target) 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580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21B113-6B5B-439F-A289-29EC96A1D05F}"/>
              </a:ext>
            </a:extLst>
          </p:cNvPr>
          <p:cNvSpPr txBox="1"/>
          <p:nvPr/>
        </p:nvSpPr>
        <p:spPr>
          <a:xfrm>
            <a:off x="2707341" y="-4482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 The Data and linear relationships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F062AC-2A6E-473F-A0E9-28B406443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723" y="4122469"/>
            <a:ext cx="4268028" cy="256081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571FBA-A42A-438C-8283-70A5DDFE2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300" y="628579"/>
            <a:ext cx="4637485" cy="27824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12DCDE-B150-4165-B211-8C7084B12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22470"/>
            <a:ext cx="4232168" cy="256081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C0A0FF-6C86-4EBF-9EAF-B0833AE12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971" y="4122469"/>
            <a:ext cx="4268029" cy="256081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443655-F2B2-4E66-9F8B-7E48B0E6AD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949" y="628579"/>
            <a:ext cx="4637485" cy="27824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665917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C9E884A-4FF5-4EB6-873B-2986D67F517A}"/>
              </a:ext>
            </a:extLst>
          </p:cNvPr>
          <p:cNvSpPr txBox="1"/>
          <p:nvPr/>
        </p:nvSpPr>
        <p:spPr>
          <a:xfrm>
            <a:off x="4144305" y="1276782"/>
            <a:ext cx="3762817" cy="360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dirty="0"/>
              <a:t>The Adjusted R-Squared is almost 0.7(70%)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dirty="0"/>
              <a:t>On the p-values the independent variables are significant in linear regression if the values are less than 0.05, so in our case it applies to all factors.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dirty="0"/>
              <a:t>We don’t have to treat the estimated values as a zero because our p-values are less than 0.01.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dirty="0"/>
              <a:t>So, for example we can say that higher a</a:t>
            </a:r>
            <a:r>
              <a:rPr lang="en-US" sz="1400" b="0" i="0" dirty="0"/>
              <a:t>verage number of rooms per dwelling leads to higher price(target).</a:t>
            </a:r>
            <a:endParaRPr lang="en-US" sz="1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337FD9-5A7C-49DC-A96B-CD1E98C6BC39}"/>
              </a:ext>
            </a:extLst>
          </p:cNvPr>
          <p:cNvSpPr/>
          <p:nvPr/>
        </p:nvSpPr>
        <p:spPr>
          <a:xfrm>
            <a:off x="4347882" y="690282"/>
            <a:ext cx="3559240" cy="586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400" b="0" i="0" dirty="0">
                <a:latin typeface="+mj-lt"/>
              </a:rPr>
              <a:t>Comment on R2 and statistical significance of estimated parameters ?</a:t>
            </a:r>
            <a:endParaRPr lang="en-US" sz="1400" dirty="0">
              <a:latin typeface="+mj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74E468-ACF7-45FA-AB9A-E073B2995349}"/>
              </a:ext>
            </a:extLst>
          </p:cNvPr>
          <p:cNvSpPr/>
          <p:nvPr/>
        </p:nvSpPr>
        <p:spPr>
          <a:xfrm>
            <a:off x="8110699" y="690283"/>
            <a:ext cx="3699813" cy="5864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400" b="0" i="0" dirty="0"/>
              <a:t>Comment on whether your sign expectations (see 2 above) were correct</a:t>
            </a:r>
            <a:r>
              <a:rPr lang="en-US" sz="1400" dirty="0"/>
              <a:t>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2D570F-6542-46BE-8597-125E7D953B32}"/>
              </a:ext>
            </a:extLst>
          </p:cNvPr>
          <p:cNvSpPr txBox="1"/>
          <p:nvPr/>
        </p:nvSpPr>
        <p:spPr>
          <a:xfrm>
            <a:off x="8110698" y="1401617"/>
            <a:ext cx="36998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Our most sign expectation was right. Except on the </a:t>
            </a:r>
            <a:r>
              <a:rPr lang="en-US" sz="1400" b="1" i="0" dirty="0"/>
              <a:t>PTRATIO </a:t>
            </a:r>
            <a:r>
              <a:rPr lang="en-US" sz="1400" dirty="0"/>
              <a:t>parameter (variable). We were expecting to become positive but comes out negative.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51E9E5-43E8-4FF7-8DF1-E6F781534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8" y="556154"/>
            <a:ext cx="3762817" cy="4484788"/>
          </a:xfrm>
          <a:prstGeom prst="rect">
            <a:avLst/>
          </a:prstGeom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4A10F43-8FFF-4811-85AF-1CE6D67D0367}"/>
              </a:ext>
            </a:extLst>
          </p:cNvPr>
          <p:cNvSpPr/>
          <p:nvPr/>
        </p:nvSpPr>
        <p:spPr>
          <a:xfrm>
            <a:off x="1481495" y="2973753"/>
            <a:ext cx="410308" cy="1230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7D408A-CCE0-4F65-84DE-E22376DEC626}"/>
              </a:ext>
            </a:extLst>
          </p:cNvPr>
          <p:cNvSpPr/>
          <p:nvPr/>
        </p:nvSpPr>
        <p:spPr>
          <a:xfrm>
            <a:off x="1481495" y="3169905"/>
            <a:ext cx="410308" cy="1230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17CA6D-F2EC-4E06-91DA-AF2888CD110E}"/>
              </a:ext>
            </a:extLst>
          </p:cNvPr>
          <p:cNvSpPr/>
          <p:nvPr/>
        </p:nvSpPr>
        <p:spPr>
          <a:xfrm>
            <a:off x="1481495" y="3367453"/>
            <a:ext cx="410308" cy="1230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C33CAE-612F-4FC7-807A-297BA5A854D2}"/>
              </a:ext>
            </a:extLst>
          </p:cNvPr>
          <p:cNvSpPr/>
          <p:nvPr/>
        </p:nvSpPr>
        <p:spPr>
          <a:xfrm>
            <a:off x="1481495" y="3569226"/>
            <a:ext cx="410308" cy="1230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B6CB53-11B2-4724-9508-CA10CE513C01}"/>
              </a:ext>
            </a:extLst>
          </p:cNvPr>
          <p:cNvSpPr/>
          <p:nvPr/>
        </p:nvSpPr>
        <p:spPr>
          <a:xfrm>
            <a:off x="1481495" y="3756458"/>
            <a:ext cx="410308" cy="1230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5E0F86-27B5-4B6B-A6DC-6C37F4F7A5BA}"/>
              </a:ext>
            </a:extLst>
          </p:cNvPr>
          <p:cNvSpPr/>
          <p:nvPr/>
        </p:nvSpPr>
        <p:spPr>
          <a:xfrm>
            <a:off x="1481495" y="3954006"/>
            <a:ext cx="410308" cy="1230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2E11E0-6445-4724-A819-12C61B7483EE}"/>
              </a:ext>
            </a:extLst>
          </p:cNvPr>
          <p:cNvSpPr/>
          <p:nvPr/>
        </p:nvSpPr>
        <p:spPr>
          <a:xfrm>
            <a:off x="2694152" y="2973772"/>
            <a:ext cx="297658" cy="1230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C77538-04AA-45C9-B59E-4D360C3ADB95}"/>
              </a:ext>
            </a:extLst>
          </p:cNvPr>
          <p:cNvSpPr/>
          <p:nvPr/>
        </p:nvSpPr>
        <p:spPr>
          <a:xfrm>
            <a:off x="2694152" y="3168484"/>
            <a:ext cx="297658" cy="1230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012D09-C967-4B2F-A6EB-2E1BB5DD7D59}"/>
              </a:ext>
            </a:extLst>
          </p:cNvPr>
          <p:cNvSpPr/>
          <p:nvPr/>
        </p:nvSpPr>
        <p:spPr>
          <a:xfrm>
            <a:off x="2694152" y="3363751"/>
            <a:ext cx="297658" cy="1230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1F0AB6-D19F-4D6F-ACE5-27CC897B4F34}"/>
              </a:ext>
            </a:extLst>
          </p:cNvPr>
          <p:cNvSpPr/>
          <p:nvPr/>
        </p:nvSpPr>
        <p:spPr>
          <a:xfrm>
            <a:off x="2694152" y="3563263"/>
            <a:ext cx="297658" cy="1230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D7FC94-BEB5-40C7-B247-270E8DA3852C}"/>
              </a:ext>
            </a:extLst>
          </p:cNvPr>
          <p:cNvSpPr/>
          <p:nvPr/>
        </p:nvSpPr>
        <p:spPr>
          <a:xfrm>
            <a:off x="2694152" y="3756458"/>
            <a:ext cx="297658" cy="1230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6E5B37-6490-4F89-92A4-A660B51B5650}"/>
              </a:ext>
            </a:extLst>
          </p:cNvPr>
          <p:cNvSpPr/>
          <p:nvPr/>
        </p:nvSpPr>
        <p:spPr>
          <a:xfrm>
            <a:off x="2694152" y="3954006"/>
            <a:ext cx="297658" cy="1230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0F1BA9-84EB-46DA-9F37-1E97CBB7B304}"/>
              </a:ext>
            </a:extLst>
          </p:cNvPr>
          <p:cNvSpPr/>
          <p:nvPr/>
        </p:nvSpPr>
        <p:spPr>
          <a:xfrm>
            <a:off x="3698198" y="1104523"/>
            <a:ext cx="297658" cy="15019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2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ED83D1D-8015-4833-9F3F-D1927FD7EC9E}"/>
              </a:ext>
            </a:extLst>
          </p:cNvPr>
          <p:cNvSpPr/>
          <p:nvPr/>
        </p:nvSpPr>
        <p:spPr>
          <a:xfrm>
            <a:off x="7945150" y="687910"/>
            <a:ext cx="3764250" cy="23978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487" y="3027230"/>
            <a:ext cx="3081576" cy="74500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687910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A1D6ED5A-9B8A-4433-BA99-139C56DB1BD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278</TotalTime>
  <Words>391</Words>
  <Application>Microsoft Office PowerPoint</Application>
  <PresentationFormat>Widescreen</PresentationFormat>
  <Paragraphs>34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Gill Sans MT</vt:lpstr>
      <vt:lpstr>Wingdings</vt:lpstr>
      <vt:lpstr>Wingdings 2</vt:lpstr>
      <vt:lpstr>Dividend</vt:lpstr>
      <vt:lpstr>Applied Machine Learning</vt:lpstr>
      <vt:lpstr>Boston house prices dataset</vt:lpstr>
      <vt:lpstr>State what sign of estimated parameters do you expect and why?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Machine Learning</dc:title>
  <dc:creator>abel nerea</dc:creator>
  <cp:lastModifiedBy>abel nerea</cp:lastModifiedBy>
  <cp:revision>7</cp:revision>
  <dcterms:created xsi:type="dcterms:W3CDTF">2022-03-27T18:12:19Z</dcterms:created>
  <dcterms:modified xsi:type="dcterms:W3CDTF">2022-03-28T18:58:07Z</dcterms:modified>
</cp:coreProperties>
</file>